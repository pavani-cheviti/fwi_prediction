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Noto Sans TC" panose="020B0604020202020204" charset="-128"/>
      <p:regular r:id="rId16"/>
    </p:embeddedFont>
    <p:embeddedFont>
      <p:font typeface="Sora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15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46" y="209984"/>
            <a:ext cx="5118411" cy="7809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3858" y="1100018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6103858" y="1666994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103858" y="2233970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103858" y="28236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FWI Predictor</a:t>
            </a:r>
            <a:endParaRPr lang="en-US" sz="4450" b="1" dirty="0">
              <a:latin typeface="Aptos Display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03858" y="3759279"/>
            <a:ext cx="7740253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machine learning model to predict Fire Weather Index and enable proactive wildfire risk management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6247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endParaRPr lang="en-US" sz="4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A25A19-DACB-E6B5-9CA6-679A47960ECA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62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The </a:t>
            </a: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Challenge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09280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Wildfires pose a significant threat to ecosystems, human life, and property worldwide. The Fire Weather Index (FWI) is a crucial tool used by meteorological and environmental agencies to estimate wildfire potential.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64963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This project builds a machine learning model that predicts FWI based on real-time environmental data, supporting early warning systems for wildfire hazards.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1556265"/>
            <a:ext cx="5684294" cy="4431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59096" y="6106239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41F8C-E409-A7FE-B658-A40E1E86B992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471" y="416004"/>
            <a:ext cx="3782378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Project Workflow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71" y="1645206"/>
            <a:ext cx="442293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5082" y="2185928"/>
            <a:ext cx="18911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Collection</a:t>
            </a:r>
            <a:endParaRPr lang="en-US" sz="1450" b="1" dirty="0"/>
          </a:p>
        </p:txBody>
      </p:sp>
      <p:sp>
        <p:nvSpPr>
          <p:cNvPr id="5" name="Text 2"/>
          <p:cNvSpPr/>
          <p:nvPr/>
        </p:nvSpPr>
        <p:spPr>
          <a:xfrm>
            <a:off x="680680" y="2577346"/>
            <a:ext cx="4120515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Gathering real-time environmental data including temperature, humidity, wind speed, precipitation, and historical FWI records.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614" y="1418273"/>
            <a:ext cx="442305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823" y="2023348"/>
            <a:ext cx="18911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Preprocessing</a:t>
            </a:r>
            <a:endParaRPr lang="en-US" sz="1450" b="1" dirty="0"/>
          </a:p>
        </p:txBody>
      </p:sp>
      <p:sp>
        <p:nvSpPr>
          <p:cNvPr id="8" name="Text 4"/>
          <p:cNvSpPr/>
          <p:nvPr/>
        </p:nvSpPr>
        <p:spPr>
          <a:xfrm>
            <a:off x="5254823" y="2350413"/>
            <a:ext cx="4120634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Cleaning raw data, handling missing values, outlier detection, and ensuring data consistency.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876" y="1191339"/>
            <a:ext cx="442305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29086" y="1796415"/>
            <a:ext cx="3097768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Engineering and Scaling</a:t>
            </a:r>
            <a:endParaRPr lang="en-US" sz="1450" b="1" dirty="0"/>
          </a:p>
        </p:txBody>
      </p:sp>
      <p:sp>
        <p:nvSpPr>
          <p:cNvPr id="11" name="Text 6"/>
          <p:cNvSpPr/>
          <p:nvPr/>
        </p:nvSpPr>
        <p:spPr>
          <a:xfrm>
            <a:off x="9829086" y="2123480"/>
            <a:ext cx="4120634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Creating new features from existing data and scaling numerical features to improve model performance.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71" y="4059793"/>
            <a:ext cx="442293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0680" y="4664869"/>
            <a:ext cx="3751183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Training using Ridge Regression</a:t>
            </a:r>
            <a:endParaRPr lang="en-US" sz="1450" b="1" dirty="0"/>
          </a:p>
        </p:txBody>
      </p:sp>
      <p:sp>
        <p:nvSpPr>
          <p:cNvPr id="14" name="Text 8"/>
          <p:cNvSpPr/>
          <p:nvPr/>
        </p:nvSpPr>
        <p:spPr>
          <a:xfrm>
            <a:off x="680680" y="4991933"/>
            <a:ext cx="4120515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Training the machine learning model using Ridge Regression to predict the Fire Weather Index.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614" y="3832860"/>
            <a:ext cx="4423053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54823" y="4437936"/>
            <a:ext cx="337554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Evaluation and Optimization</a:t>
            </a:r>
            <a:endParaRPr lang="en-US" sz="1450" b="1" dirty="0"/>
          </a:p>
        </p:txBody>
      </p:sp>
      <p:sp>
        <p:nvSpPr>
          <p:cNvPr id="17" name="Text 10"/>
          <p:cNvSpPr/>
          <p:nvPr/>
        </p:nvSpPr>
        <p:spPr>
          <a:xfrm>
            <a:off x="5254823" y="4765000"/>
            <a:ext cx="4120634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Assessing model performance using metrics like RMSE and R-squared, and fine-tuning hyperparameters for better accuracy.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876" y="3605927"/>
            <a:ext cx="4423053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829086" y="4211003"/>
            <a:ext cx="18911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Saving</a:t>
            </a:r>
            <a:endParaRPr lang="en-US" sz="1450" b="1" dirty="0"/>
          </a:p>
        </p:txBody>
      </p:sp>
      <p:sp>
        <p:nvSpPr>
          <p:cNvPr id="20" name="Text 12"/>
          <p:cNvSpPr/>
          <p:nvPr/>
        </p:nvSpPr>
        <p:spPr>
          <a:xfrm>
            <a:off x="9829086" y="4538067"/>
            <a:ext cx="4120634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Serializing the trained model for future use and deployment.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71" y="6247448"/>
            <a:ext cx="4422934" cy="1143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0680" y="6852523"/>
            <a:ext cx="2484358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Deployment via Flask App</a:t>
            </a:r>
            <a:endParaRPr lang="en-US" sz="1450" b="1" dirty="0"/>
          </a:p>
        </p:txBody>
      </p:sp>
      <p:sp>
        <p:nvSpPr>
          <p:cNvPr id="23" name="Text 14"/>
          <p:cNvSpPr/>
          <p:nvPr/>
        </p:nvSpPr>
        <p:spPr>
          <a:xfrm>
            <a:off x="680680" y="7179588"/>
            <a:ext cx="4120515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Integrating the trained model into a Flask application for real-time wildfire potential prediction.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8060C0-611E-8818-C19E-551FA05B5CAF}"/>
              </a:ext>
            </a:extLst>
          </p:cNvPr>
          <p:cNvSpPr/>
          <p:nvPr/>
        </p:nvSpPr>
        <p:spPr>
          <a:xfrm>
            <a:off x="12745844" y="7694343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014" y="762209"/>
            <a:ext cx="85074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Data Collection &amp; Exploration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9014" y="3418880"/>
            <a:ext cx="4196358" cy="2554248"/>
          </a:xfrm>
          <a:prstGeom prst="roundRect">
            <a:avLst>
              <a:gd name="adj" fmla="val 1332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645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13611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Temperature, Relative Humidity, Wind Speed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494121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Rain, FFMC, DMC, ISI metrics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538341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Regional data included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18880"/>
            <a:ext cx="4196358" cy="2554248"/>
          </a:xfrm>
          <a:prstGeom prst="roundRect">
            <a:avLst>
              <a:gd name="adj" fmla="val 1332"/>
            </a:avLst>
          </a:prstGeom>
          <a:solidFill>
            <a:srgbClr val="26262B"/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3645694"/>
            <a:ext cx="28357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13611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Handled missing values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443776" y="457831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Outlier detection via boxplots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43776" y="502050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Encoded categorical regions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418880"/>
            <a:ext cx="4196358" cy="2554248"/>
          </a:xfrm>
          <a:prstGeom prst="roundRect">
            <a:avLst>
              <a:gd name="adj" fmla="val 1332"/>
            </a:avLst>
          </a:prstGeom>
          <a:solidFill>
            <a:srgbClr val="262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866948" y="3645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66948" y="413611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Visualised distributions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866948" y="457831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Correlation matrix analysis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6948" y="502050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Feature relationships mapped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0FAB0E-FC5A-076F-2E48-BBC60BFA6E16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83" y="736283"/>
            <a:ext cx="6418302" cy="5708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5083" y="6658451"/>
            <a:ext cx="6418302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Correlation Matrix Heatmap. This map shows how strongly every feature relates to every other feature</a:t>
            </a:r>
            <a:endParaRPr lang="en-US" sz="1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635" y="736283"/>
            <a:ext cx="6418302" cy="47059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4635" y="5655945"/>
            <a:ext cx="6418302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Temperature vs FWI: A scatterplot showed a positive trend: as temperature increases, FWI tends to increase.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5083" y="7722394"/>
            <a:ext cx="4751189" cy="593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205B9-4844-9623-A8DF-7DC7B365067E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5"/>
            <a:ext cx="9041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Feature Engineering &amp; Scaling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0406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138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62854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Identified key variables most correlated with FWI target 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4490442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Selected features based on correlation: ['Temperature', 'RH', 'Ws', 'Rain', 'FFMC', 'DMC', 'DC', 'ISI', 'BUI', 'FWI']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004060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138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Normalisation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362854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Applied StandardScaler for consistent feature scaling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004060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3138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Split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3628549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Separated training(80%) and testing (20%) sets for model validation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642401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00184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783348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670750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scaler was saved as a .pkl file to ensure consistency between training and deployment environments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9711E-16FA-2E21-629B-7FC4B6339780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59" y="986135"/>
            <a:ext cx="118974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Model Training - Ridge Regression Model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59" y="1946519"/>
            <a:ext cx="40762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Ridge Regression?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907197" y="28479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Ridge Regression was selected to handle multicollinearity in environmental input data, providing robust predictions even when features are correlated.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18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16899"/>
            <a:ext cx="4196358" cy="3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891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Alpha Tuning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38162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Balanced bias-variance tradeoff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880616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Best alpha: 0.5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216962" y="43618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4739640"/>
            <a:ext cx="4196358" cy="3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6962" y="4891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216962" y="538162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Evaluated performance metrics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9640133" y="43618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4739640"/>
            <a:ext cx="4196358" cy="3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40133" y="4891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Saving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40133" y="5381625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Saved as ridge.pkl for deployment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1F0D9C-6115-49CF-CCAB-EB1327F2FD13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142" y="440888"/>
            <a:ext cx="4010501" cy="50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Model Performance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1142" y="1262539"/>
            <a:ext cx="4395788" cy="1706999"/>
          </a:xfrm>
          <a:prstGeom prst="roundRect">
            <a:avLst>
              <a:gd name="adj" fmla="val 140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4002" y="1285399"/>
            <a:ext cx="4350068" cy="481013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8782" y="1405533"/>
            <a:ext cx="240506" cy="240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4260" y="1926669"/>
            <a:ext cx="2081451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Mean Absolute Error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44260" y="2273260"/>
            <a:ext cx="4029551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Measured average prediction accuracy across all test samples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117187" y="1262539"/>
            <a:ext cx="4395907" cy="1706999"/>
          </a:xfrm>
          <a:prstGeom prst="roundRect">
            <a:avLst>
              <a:gd name="adj" fmla="val 140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0047" y="1285399"/>
            <a:ext cx="4350187" cy="481013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4828" y="1405533"/>
            <a:ext cx="240506" cy="2405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0305" y="1926669"/>
            <a:ext cx="2555319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Root Mean Squared Error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300305" y="2273260"/>
            <a:ext cx="402967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Penalised large prediction errors to ensure reliability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73352" y="1262539"/>
            <a:ext cx="4395907" cy="1706999"/>
          </a:xfrm>
          <a:prstGeom prst="roundRect">
            <a:avLst>
              <a:gd name="adj" fmla="val 140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96212" y="1285399"/>
            <a:ext cx="4350187" cy="481013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50993" y="1405533"/>
            <a:ext cx="240506" cy="2405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6470" y="1926669"/>
            <a:ext cx="2004298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R² Score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856470" y="2273260"/>
            <a:ext cx="402967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Assessed variance explanation and model fit quality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61142" y="3294221"/>
            <a:ext cx="669738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1142" y="3695105"/>
            <a:ext cx="669738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142" y="4132064"/>
            <a:ext cx="5381625" cy="26456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1142" y="6958132"/>
            <a:ext cx="669738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7386" y="3330297"/>
            <a:ext cx="3387090" cy="33175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57386" y="6828234"/>
            <a:ext cx="6419374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Predicted vs actual values were plotted to visualize performance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61142" y="7539395"/>
            <a:ext cx="1350811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765AA8-8A53-D7F1-699C-F4210DC14135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1207"/>
            <a:ext cx="64556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Flask Web Application</a:t>
            </a:r>
            <a:endParaRPr lang="en-US" sz="4450" b="1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33951" y="2810589"/>
            <a:ext cx="6067663" cy="226814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8371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2626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275385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App 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98145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Created Flask app with app.py as main application file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768709" y="2470428"/>
            <a:ext cx="6067782" cy="226814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7428548" y="224355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2626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8688" y="2413695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50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4128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Developed index.html for input form with all feature fields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1133951" y="5387697"/>
            <a:ext cx="6067663" cy="226814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793790" y="516082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26262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930" y="5330964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Engine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55855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Loaded ridge.pkl and scaler.pkl for real-time predictions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768709" y="5047536"/>
            <a:ext cx="6067782" cy="226814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7428548" y="4820662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26262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8688" y="4990802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727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Results Display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21839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Created home.html to show predicted FWI value to users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BF2A1E-35AC-2B0A-4507-792D124DD53E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User Interface </a:t>
            </a:r>
            <a:endParaRPr lang="en-US" sz="4400" b="1" dirty="0">
              <a:latin typeface="Aptos Display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026" y="666155"/>
            <a:ext cx="7723713" cy="3501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835" y="1350633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6835" y="1381529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D689B77-7583-4D40-3675-0808CE651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026" y="4306715"/>
            <a:ext cx="7723713" cy="3501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028518-19B8-B5CE-36EE-A81ED1AB22D4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1739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Sample Output </a:t>
            </a:r>
            <a:endParaRPr lang="en-US" sz="2050" b="1" dirty="0">
              <a:latin typeface="Aptos Display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31" y="1335286"/>
            <a:ext cx="13149739" cy="6203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331" y="7776567"/>
            <a:ext cx="1314973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10F95-85AE-8F5D-36C8-3288AD31E93E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60" y="6001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Impact</a:t>
            </a:r>
            <a:r>
              <a:rPr lang="en-US" sz="4450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 &amp; </a:t>
            </a: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Future</a:t>
            </a:r>
            <a:endParaRPr lang="en-US" sz="4450" b="1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5370" y="1868741"/>
            <a:ext cx="640699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Enabling Proactive Risk Management</a:t>
            </a:r>
            <a:endParaRPr lang="en-US" sz="265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852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FWI Predictor provides meteorological and environmental agencies with a powerful tool for early wildfire detection and risk assessment.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7407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6" name="Text 4"/>
          <p:cNvSpPr/>
          <p:nvPr/>
        </p:nvSpPr>
        <p:spPr>
          <a:xfrm>
            <a:off x="1530906" y="4818578"/>
            <a:ext cx="3175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Real-time predictions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530899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Based on current environmental conditions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47407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9" name="Text 7"/>
          <p:cNvSpPr/>
          <p:nvPr/>
        </p:nvSpPr>
        <p:spPr>
          <a:xfrm>
            <a:off x="5973008" y="4818578"/>
            <a:ext cx="31811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Early warning systems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530899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 for proactive wildfire management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474071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5111" y="4818578"/>
            <a:ext cx="3049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Scalable deployment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5111" y="530899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Web-based interface for widespread access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AEE295-7774-8A08-09ED-5D675E248AEB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48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latin typeface="Aptos Display" panose="020B0004020202020204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4450" b="1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159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FWI Predictor project involved a comprehensive workflow, from data collection and model development to deployment as a user-friendly web application, ensuring a robust and reliable system for critical insights.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969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Its technical success is built on a high-performing Ridge Regression model for accurate, real-time Fire Weather Index (FWI) forecasts, integrated into a scalable Flask web application for broad accessibility and real-time operational capabilities.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7790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FWI Predictor delivers significant real-world impact by empowering meteorological and environmental agencies with accurate, real-time forecasts. This enables proactive wildfire management, supporting early warning systems, resource allocation, and critical decisions to safeguard communities and ecosystems.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5217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CCEB28-C942-D0ED-DB73-A0151E942B36}"/>
              </a:ext>
            </a:extLst>
          </p:cNvPr>
          <p:cNvSpPr/>
          <p:nvPr/>
        </p:nvSpPr>
        <p:spPr>
          <a:xfrm>
            <a:off x="12745844" y="7705494"/>
            <a:ext cx="1795346" cy="4460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709</Words>
  <Application>Microsoft Office PowerPoint</Application>
  <PresentationFormat>Custom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Sora Light</vt:lpstr>
      <vt:lpstr>Arial</vt:lpstr>
      <vt:lpstr>Aptos Display</vt:lpstr>
      <vt:lpstr>Sora Medium</vt:lpstr>
      <vt:lpstr>Noto Sans 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Pavani Cheviti</dc:creator>
  <cp:lastModifiedBy>Pavani Cheviti</cp:lastModifiedBy>
  <cp:revision>3</cp:revision>
  <dcterms:created xsi:type="dcterms:W3CDTF">2025-11-13T17:18:25Z</dcterms:created>
  <dcterms:modified xsi:type="dcterms:W3CDTF">2025-11-13T17:41:13Z</dcterms:modified>
</cp:coreProperties>
</file>